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0E9B7E-4CD7-D6BF-32BF-C36E8D739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0B50658-8A58-F6BE-79CA-BC884A42C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E8CC80-D98A-9636-A136-149CB355D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9EDAB8-0E8A-83D7-6F65-F7C6932B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72B7978-131B-3F7F-6131-D5879E1B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84037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CA604E-4B26-6188-7AC8-6200BAE14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5D855C-4EEF-287C-B56D-D6DDF7ED8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A58266-9257-215B-2C6A-FF7C5560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42BA71-5AFA-4E37-C6B1-39D8A8B2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34ADB2-2E30-7EE0-D172-F451C2EE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048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6F595F-1ED9-7EC0-0138-0695894E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A20EF6B-21AA-65E7-C399-05E17668E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08EC89-730B-85FB-BE32-5C33CBA0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A3460EB-3163-9BD2-C4F2-F01A71E7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6B60307-2A4D-36E7-18E0-08F32254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493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1D5F01-8A5E-1E3C-E5E3-8E6A3B68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6F0154-B094-CA9F-4E39-150CB55F6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D282109-81D4-5474-2509-8A12739A8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88418CA-D4F4-207C-C3A8-345AC03F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A69F2A1-A0E0-4179-F1A2-733C0E982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45E440C-4004-27B2-CAF7-0C41C107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876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D89BF0-66D9-C26C-2BD1-60A8C85BD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591206-89F5-1487-9D47-B96B66620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50B1F85-2585-FB4E-ADA5-7B90A1E00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DE6B6E1-9F51-15DD-D701-D86AECFBC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6B46320-7184-144A-3B6A-98C3029FF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8F98BFA-CAC0-EE10-B726-1B4860BE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A197426-CE50-1574-143A-15E392664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1824FE8-2089-78D6-4FAA-4A2EEB10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2526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AC3F2C-9B19-DC7B-30A9-F75A2257E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9BF3951-AEFD-E2AA-1047-EE73F419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194CF22-7427-3D1F-05B8-82B2CC0D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2B35A40-B28C-5EF7-2BF1-1FD9B695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7051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378CA73-CB85-8D6E-A0D9-59C517B2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4455CFD-53D0-05C2-053C-15A2DA947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E026C49-5BAD-7A49-62FB-660AA17F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127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A7EB78-BA1F-66E7-9E2C-38082A806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A429C21-B65E-B405-D739-DE404C37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6F2C8E2-D034-E0F6-68F4-EDD63433F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3DB50BF-CE11-C851-0458-31972B26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90659E4-F4C7-DE41-6BB9-A65DC0A7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2501078-704B-C23E-AB6F-F41D6A7E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245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94BD61-EB72-616B-40E6-B78B7E8D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D255DBB-0C28-8E99-CA98-CC8A3810B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6EFA018-6014-415A-FF6B-966763413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2D0BAD2-6727-5FC1-DFAA-BC590B810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70CAA0E-73A5-D2E4-BAD9-35524F0F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90627DA-F427-92D4-5FD1-888D5F21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300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B9040-C26C-34E1-A4E6-61303EDC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69DF361-1C37-32C1-305A-8B4B415BC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30294B-DF87-6471-41D6-F8BBC03A2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AE49F3-A028-C0DF-BD7E-A52B325D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9F0F1D-E873-25F8-5311-C87FF100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502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2223120B-9AA7-BD41-9B09-E92FAEA6A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AB766FB-B8B7-8B63-897C-206D56C7C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17369D-DD91-FDD2-6E98-3F807B14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2F1F49-8E49-9030-2B0C-57F0C319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8950FE1-152E-3556-D95A-2608D360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164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64B4E18-ECDF-12E5-7391-96D43F48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ABF5FE7-0632-0552-1DB8-89DAAF210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7AC2FF-5E63-C520-206A-86B6B7B2C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29537-5F58-4848-BB49-56903FBA9E58}" type="datetimeFigureOut">
              <a:rPr lang="hu-HU" smtClean="0"/>
              <a:t>2026. 03. 09.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1FE890-4B79-1A4B-0DF8-71BB13EE0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56C843-BAD7-19A7-6D01-DD0D8F4F2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A980D-02B7-4325-AADE-FB4B44B14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113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Ada Lovelace - Wikipedia">
            <a:extLst>
              <a:ext uri="{FF2B5EF4-FFF2-40B4-BE49-F238E27FC236}">
                <a16:creationId xmlns:a16="http://schemas.microsoft.com/office/drawing/2014/main" id="{71F47D89-722B-FB5E-87A6-B2126C324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3048"/>
          <a:stretch>
            <a:fillRect/>
          </a:stretch>
        </p:blipFill>
        <p:spPr bwMode="auto">
          <a:xfrm>
            <a:off x="3793813" y="744344"/>
            <a:ext cx="4627646" cy="4627648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Joan Clarke – Cryptanalyst and numismatist">
            <a:extLst>
              <a:ext uri="{FF2B5EF4-FFF2-40B4-BE49-F238E27FC236}">
                <a16:creationId xmlns:a16="http://schemas.microsoft.com/office/drawing/2014/main" id="{F77F66E6-5AE4-21BC-BC83-2AA82C28D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9" b="4"/>
          <a:stretch>
            <a:fillRect/>
          </a:stretch>
        </p:blipFill>
        <p:spPr bwMode="auto">
          <a:xfrm>
            <a:off x="1319706" y="1757695"/>
            <a:ext cx="2590737" cy="2926956"/>
          </a:xfrm>
          <a:custGeom>
            <a:avLst/>
            <a:gdLst/>
            <a:ahLst/>
            <a:cxnLst/>
            <a:rect l="l" t="t" r="r" b="b"/>
            <a:pathLst>
              <a:path w="2590737" h="2926956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hort documentary streamed in 1982 for the 25th anniversary of FORTRAN -  Histories - Retro Computing">
            <a:extLst>
              <a:ext uri="{FF2B5EF4-FFF2-40B4-BE49-F238E27FC236}">
                <a16:creationId xmlns:a16="http://schemas.microsoft.com/office/drawing/2014/main" id="{9F15AE73-0167-137F-0ECB-2750807E8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4" r="11053" b="-1"/>
          <a:stretch>
            <a:fillRect/>
          </a:stretch>
        </p:blipFill>
        <p:spPr bwMode="auto">
          <a:xfrm>
            <a:off x="8297994" y="1757695"/>
            <a:ext cx="2577829" cy="2926956"/>
          </a:xfrm>
          <a:custGeom>
            <a:avLst/>
            <a:gdLst/>
            <a:ahLst/>
            <a:cxnLst/>
            <a:rect l="l" t="t" r="r" b="b"/>
            <a:pathLst>
              <a:path w="2577829" h="2926956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Katherine Johnson: Pioneering NASA mathematician | Space">
            <a:extLst>
              <a:ext uri="{FF2B5EF4-FFF2-40B4-BE49-F238E27FC236}">
                <a16:creationId xmlns:a16="http://schemas.microsoft.com/office/drawing/2014/main" id="{D8FDBB41-FC6B-BA6B-3F98-23B4F2773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5" name="AutoShape 8" descr="Katherine Johnson: Pioneering NASA mathematician | Space">
            <a:extLst>
              <a:ext uri="{FF2B5EF4-FFF2-40B4-BE49-F238E27FC236}">
                <a16:creationId xmlns:a16="http://schemas.microsoft.com/office/drawing/2014/main" id="{2B9CAB0C-23BB-209B-6AEF-4DAEDF1832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90115" y="312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241CF7B-A2F3-9400-DE4D-3EF72041D3C2}"/>
              </a:ext>
            </a:extLst>
          </p:cNvPr>
          <p:cNvSpPr txBox="1"/>
          <p:nvPr/>
        </p:nvSpPr>
        <p:spPr>
          <a:xfrm>
            <a:off x="2090807" y="5713290"/>
            <a:ext cx="8033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Nők a programozásért</a:t>
            </a:r>
          </a:p>
        </p:txBody>
      </p:sp>
    </p:spTree>
    <p:extLst>
      <p:ext uri="{BB962C8B-B14F-4D97-AF65-F5344CB8AC3E}">
        <p14:creationId xmlns:p14="http://schemas.microsoft.com/office/powerpoint/2010/main" val="44019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6C3640-E968-DAE1-065D-72DE1CC5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Miért is van szükség erre?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FF9B9B-BDB6-6A0C-73B6-76E24D1AA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hu-HU" sz="2400" b="1" dirty="0"/>
              <a:t>Elfeledett úttörők</a:t>
            </a:r>
            <a:r>
              <a:rPr lang="hu-HU" sz="2400" dirty="0"/>
              <a:t>: A számítástechnika hajnalán a programozást gyakran „női munkának” tekintették, mivel a hardver építését tartották a nehezebb feladatnak.</a:t>
            </a:r>
          </a:p>
          <a:p>
            <a:pPr algn="just"/>
            <a:r>
              <a:rPr lang="hu-HU" sz="2400" b="1" dirty="0"/>
              <a:t>Változó arányok</a:t>
            </a:r>
            <a:r>
              <a:rPr lang="hu-HU" sz="2400" dirty="0"/>
              <a:t>: Míg az 1940-es években a nők voltak a többségben a hasonló munkakörökben, az 1960-as évektől a szakma fokozatosan </a:t>
            </a:r>
            <a:r>
              <a:rPr lang="hu-HU" sz="2400" dirty="0" err="1"/>
              <a:t>maszkulinizálódott</a:t>
            </a:r>
            <a:r>
              <a:rPr lang="hu-HU" sz="2400" dirty="0"/>
              <a:t>.</a:t>
            </a:r>
          </a:p>
          <a:p>
            <a:pPr algn="just"/>
            <a:r>
              <a:rPr lang="hu-HU" sz="2400" b="1" dirty="0"/>
              <a:t>A jelenlegi helyzet: </a:t>
            </a:r>
            <a:r>
              <a:rPr lang="hu-HU" sz="2400" dirty="0"/>
              <a:t>Napjainkban a technológiai szektor munkavállalóinak csupán körülbelül 25-28%-a nő.</a:t>
            </a:r>
          </a:p>
          <a:p>
            <a:pPr algn="just"/>
            <a:r>
              <a:rPr lang="hu-HU" sz="2400" b="1" dirty="0"/>
              <a:t>A jövő </a:t>
            </a:r>
            <a:r>
              <a:rPr lang="hu-HU" sz="2400" b="1" dirty="0" err="1"/>
              <a:t>záloga</a:t>
            </a:r>
            <a:r>
              <a:rPr lang="hu-HU" sz="2400" b="1" dirty="0"/>
              <a:t>: </a:t>
            </a:r>
            <a:r>
              <a:rPr lang="hu-HU" sz="2400" dirty="0"/>
              <a:t>A sokszínűség nem csak etikai kérdés; a vegyes csapatok által fejlesztett megoldások bizonyítottan kevesebb elfogultságot és hibát tartalmaznak.</a:t>
            </a:r>
          </a:p>
        </p:txBody>
      </p:sp>
    </p:spTree>
    <p:extLst>
      <p:ext uri="{BB962C8B-B14F-4D97-AF65-F5344CB8AC3E}">
        <p14:creationId xmlns:p14="http://schemas.microsoft.com/office/powerpoint/2010/main" val="1328769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Ada Lovelace - Wikipedia">
            <a:extLst>
              <a:ext uri="{FF2B5EF4-FFF2-40B4-BE49-F238E27FC236}">
                <a16:creationId xmlns:a16="http://schemas.microsoft.com/office/drawing/2014/main" id="{C202E15B-5839-0DBA-1B58-B035EAC86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4"/>
          <a:stretch>
            <a:fillRect/>
          </a:stretch>
        </p:blipFill>
        <p:spPr bwMode="auto">
          <a:xfrm>
            <a:off x="-1" y="-2"/>
            <a:ext cx="541019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E35144A-4E70-0BA1-A684-14EE948BCD12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>
                <a:latin typeface="+mj-lt"/>
                <a:ea typeface="+mj-ea"/>
                <a:cs typeface="+mj-cs"/>
              </a:rPr>
              <a:t>Ada Lovelace (1815–1852) – Az első programozó</a:t>
            </a:r>
            <a:endParaRPr lang="en-US" sz="3400">
              <a:latin typeface="+mj-lt"/>
              <a:ea typeface="+mj-ea"/>
              <a:cs typeface="+mj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E28F84C-5C74-FF3C-F6B8-5CDA23AD4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317" y="2488484"/>
            <a:ext cx="5771883" cy="370911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A "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számok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varázslónője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": Lord Byron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költő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lánya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akit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édesanyja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–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apja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"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vadságától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"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tartva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–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szándékosan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matematika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és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logika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irányába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nevelt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285750" marR="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Az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Analitikai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Gép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: Charles Babbage-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dzsel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számítógép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atyjával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dolgozott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együtt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az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akkor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még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csak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papíron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létező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mechanikus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számítógép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tervezetén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285750" marR="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világ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első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algoritmusa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(1843): Ő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írta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le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azt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műveletsorozatot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(a Bernoulli-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számok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kiszámítására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),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amelyet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gép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végrehajtott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volna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–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ez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történelem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első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számítógépes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programja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285750" marR="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Látnoki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elképzelés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Elsőként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ismerte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fel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hogy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számítógépek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nemcsak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számolásra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valók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hanem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szimbólumokat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képeket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vagy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akár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zenét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is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képesek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lehetnek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kezelni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285750" marR="0" lvl="0" indent="-285750" algn="just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Öröksége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Róla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nevezték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el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az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Ada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programozási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nyelvet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és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minden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év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októberének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második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keddjén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tartják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az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Ada Lovelace-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napot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, a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nők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tudományos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sikereinek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hu-HU" sz="1400" b="0" i="0" u="none" strike="noStrike" cap="none" normalizeH="0" baseline="0" dirty="0" err="1">
                <a:ln>
                  <a:noFill/>
                </a:ln>
                <a:effectLst/>
              </a:rPr>
              <a:t>ünnepeként</a:t>
            </a:r>
            <a:r>
              <a:rPr kumimoji="0" lang="en-US" altLang="hu-HU" sz="1400" b="0" i="0" u="none" strike="noStrike" cap="none" normalizeH="0" baseline="0" dirty="0">
                <a:ln>
                  <a:noFill/>
                </a:ln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194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AFA66-FBCF-9C7D-A2C7-B1C6A6C5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Joan Clarke – Cryptanalyst and numismatist">
            <a:extLst>
              <a:ext uri="{FF2B5EF4-FFF2-40B4-BE49-F238E27FC236}">
                <a16:creationId xmlns:a16="http://schemas.microsoft.com/office/drawing/2014/main" id="{19B10226-F2B1-3EC1-9ACF-EED0A1877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45" b="1"/>
          <a:stretch>
            <a:fillRect/>
          </a:stretch>
        </p:blipFill>
        <p:spPr bwMode="auto">
          <a:xfrm>
            <a:off x="-1" y="-2"/>
            <a:ext cx="541019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485680B8-5542-9C4E-0490-E6727F06BF3E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hu-HU" sz="3600" b="1" dirty="0"/>
              <a:t>Joan Clarke (1917–1996) – A kódfejtés mestere</a:t>
            </a:r>
            <a:endParaRPr lang="en-US" sz="3400" dirty="0">
              <a:latin typeface="+mj-lt"/>
              <a:ea typeface="+mj-ea"/>
              <a:cs typeface="+mj-cs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5B19B4E-32DE-EF39-47FC-5371354ABBE8}"/>
              </a:ext>
            </a:extLst>
          </p:cNvPr>
          <p:cNvSpPr txBox="1"/>
          <p:nvPr/>
        </p:nvSpPr>
        <p:spPr>
          <a:xfrm>
            <a:off x="6115317" y="2691684"/>
            <a:ext cx="58373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 </a:t>
            </a:r>
            <a:r>
              <a:rPr kumimoji="0" lang="hu-HU" altLang="hu-H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Bletchley</a:t>
            </a: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Park zsenije: Matematikusként csatlakozott a brit kódfejtő központhoz. Bár eredetileg titkárnőnek vették fel, tehetsége miatt azonnal a kriptográfusok közé került.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Az Enigma feltörése: Kulcsszerepet játszott a német haditengerészeti rejtjelek megfejtésében, amivel becslések szerint legalább két évvel rövidítették le a háborút és milliók életét mentették meg.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„</a:t>
            </a:r>
            <a:r>
              <a:rPr kumimoji="0" lang="hu-HU" altLang="hu-H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Banburismus</a:t>
            </a: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”: Turinggal közösen fejlesztették ki ezt a statisztikai módszert, amely segített felgyorsítani a kódok feltörését a </a:t>
            </a:r>
            <a:r>
              <a:rPr kumimoji="0" lang="hu-HU" altLang="hu-H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Bombe</a:t>
            </a: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gépek segítségével.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Akadályok és elismerés: Nőként kevesebb fizetést kapott, és hivatali besorolása szerint „nyelvi szakértőnek” kellett nevezniük, mert a brit államigazgatásban akkoriban nem létezett „női kódfejtő” kategória.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Popkulturális megjelenés: Alakját </a:t>
            </a:r>
            <a:r>
              <a:rPr kumimoji="0" lang="hu-HU" altLang="hu-H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Keira</a:t>
            </a: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</a:t>
            </a:r>
            <a:r>
              <a:rPr kumimoji="0" lang="hu-HU" altLang="hu-HU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Knightley</a:t>
            </a: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tette világszerte ismertté a </a:t>
            </a:r>
            <a:r>
              <a:rPr kumimoji="0" lang="hu-HU" altLang="hu-HU" sz="1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Kódjátszma (The Imitation Game)</a:t>
            </a:r>
            <a:r>
              <a:rPr kumimoji="0" lang="hu-HU" altLang="hu-HU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című filmben. </a:t>
            </a:r>
          </a:p>
        </p:txBody>
      </p:sp>
    </p:spTree>
    <p:extLst>
      <p:ext uri="{BB962C8B-B14F-4D97-AF65-F5344CB8AC3E}">
        <p14:creationId xmlns:p14="http://schemas.microsoft.com/office/powerpoint/2010/main" val="93873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57307-E29F-3156-C6A6-3C2E0941B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Short documentary streamed in 1982 for the 25th anniversary of FORTRAN -  Histories - Retro Computing">
            <a:extLst>
              <a:ext uri="{FF2B5EF4-FFF2-40B4-BE49-F238E27FC236}">
                <a16:creationId xmlns:a16="http://schemas.microsoft.com/office/drawing/2014/main" id="{634402C1-1D2B-F20C-06C7-2AFF1C3C1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r="14463"/>
          <a:stretch>
            <a:fillRect/>
          </a:stretch>
        </p:blipFill>
        <p:spPr bwMode="auto">
          <a:xfrm>
            <a:off x="-1" y="-2"/>
            <a:ext cx="541019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F73D881-DD4B-62F3-9163-9F9981829E28}"/>
              </a:ext>
            </a:extLst>
          </p:cNvPr>
          <p:cNvSpPr txBox="1"/>
          <p:nvPr/>
        </p:nvSpPr>
        <p:spPr>
          <a:xfrm>
            <a:off x="6115317" y="405685"/>
            <a:ext cx="5464968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3600" b="1" dirty="0"/>
              <a:t>Lois Haibt (1934–) – A FORTRAN úttörője</a:t>
            </a:r>
            <a:endParaRPr lang="en-US" sz="34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E27EB1D-165D-4F72-571E-8DC94C0F1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hu-HU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ADD2CC02-294D-75D5-E9FB-EBE6E3DA1EC6}"/>
              </a:ext>
            </a:extLst>
          </p:cNvPr>
          <p:cNvSpPr txBox="1"/>
          <p:nvPr/>
        </p:nvSpPr>
        <p:spPr>
          <a:xfrm>
            <a:off x="6096000" y="2691684"/>
            <a:ext cx="582730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u-HU" sz="1400" dirty="0"/>
              <a:t>Az egyetlen nő az IBM elit csapatában: 1955-ben, friss diplomásként csatlakozott John </a:t>
            </a:r>
            <a:r>
              <a:rPr lang="hu-HU" sz="1400" dirty="0" err="1"/>
              <a:t>Backus</a:t>
            </a:r>
            <a:r>
              <a:rPr lang="hu-HU" sz="1400" dirty="0"/>
              <a:t> csapatához, hogy létrehozzák a világ első olyan nyelvét, amely emberi ésszel is könnyen olvasható kódot használt.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u-HU" sz="1400" dirty="0"/>
              <a:t>A fordítóprogram agya: Ő tervezte és programozta a FORTRAN fordítóprogram (</a:t>
            </a:r>
            <a:r>
              <a:rPr lang="hu-HU" sz="1400" dirty="0" err="1"/>
              <a:t>compiler</a:t>
            </a:r>
            <a:r>
              <a:rPr lang="hu-HU" sz="1400" dirty="0"/>
              <a:t>) negyedik szekcióját, amely a programok áramlási elemzéséért volt felelős.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u-HU" sz="1400" dirty="0"/>
              <a:t>Az első szintaktikai elemző: Ő alkotta meg az aritmetikai kifejezések első szintaktikai elemzőjét (</a:t>
            </a:r>
            <a:r>
              <a:rPr lang="hu-HU" sz="1400" dirty="0" err="1"/>
              <a:t>syntactic</a:t>
            </a:r>
            <a:r>
              <a:rPr lang="hu-HU" sz="1400" dirty="0"/>
              <a:t> </a:t>
            </a:r>
            <a:r>
              <a:rPr lang="hu-HU" sz="1400" dirty="0" err="1"/>
              <a:t>analyzer</a:t>
            </a:r>
            <a:r>
              <a:rPr lang="hu-HU" sz="1400" dirty="0"/>
              <a:t>), ami lehetővé tette, hogy a gép megértse az összetett matematikai képleteket.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u-HU" sz="1400" dirty="0"/>
              <a:t>Úttörő módszerek: Munkája során olyan statisztikai módszereket (pl. Monte-Carlo módszer) alkalmazott a kód optimalizálására, amelyek akkoriban forradalmi újdonságnak számítottak.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hu-HU" sz="1400" dirty="0"/>
              <a:t>Szemléletmódja: Híres mondása szerint az IBM-nél bárkit felvettek, akinek jó volt a logikája: „sakkjátékosokat, bridzsezőket, sőt, még nőket is” – utalva arra, hogy a tehetség akkoriban fontosabb volt a társadalmi elvárásoknál.</a:t>
            </a:r>
          </a:p>
        </p:txBody>
      </p:sp>
    </p:spTree>
    <p:extLst>
      <p:ext uri="{BB962C8B-B14F-4D97-AF65-F5344CB8AC3E}">
        <p14:creationId xmlns:p14="http://schemas.microsoft.com/office/powerpoint/2010/main" val="263404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543</Words>
  <Application>Microsoft Office PowerPoint</Application>
  <PresentationFormat>Szélesvásznú</PresentationFormat>
  <Paragraphs>24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 Black</vt:lpstr>
      <vt:lpstr>Office-téma</vt:lpstr>
      <vt:lpstr>PowerPoint-bemutató</vt:lpstr>
      <vt:lpstr>Miért is van szükség erre?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Dávid Borsi</dc:creator>
  <cp:lastModifiedBy>Dávid Borsi</cp:lastModifiedBy>
  <cp:revision>1</cp:revision>
  <dcterms:created xsi:type="dcterms:W3CDTF">2026-03-09T14:12:10Z</dcterms:created>
  <dcterms:modified xsi:type="dcterms:W3CDTF">2026-03-09T15:45:42Z</dcterms:modified>
</cp:coreProperties>
</file>